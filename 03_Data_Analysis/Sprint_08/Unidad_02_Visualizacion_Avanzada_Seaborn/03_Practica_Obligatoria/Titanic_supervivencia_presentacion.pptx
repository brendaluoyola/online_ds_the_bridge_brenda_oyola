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y fecha</a:t>
            </a:r>
          </a:p>
        </p:txBody>
      </p:sp>
      <p:sp>
        <p:nvSpPr>
          <p:cNvPr id="12" name="Título de la presentació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Título de la presentación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la presentación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sta desde el interior de una estructura de piedra, mirando hacia las escaleras y hacia un cielo azul y despejado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ítulo de la presentació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Título de la presentación</a:t>
            </a:r>
          </a:p>
        </p:txBody>
      </p:sp>
      <p:sp>
        <p:nvSpPr>
          <p:cNvPr id="23" name="Autor y fecha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y fecha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la presentación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fot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 edificio moderno blanco con paneles de cristal con un cielo azul y despejado en el fondo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ítulo de la diapositiva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Título de la diapositiva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ítulo de la diapositiv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43" name="Subtítulo de la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ubtítulo de la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Pequeña sección de un moderno puente de concha en Qingdao, Shandong, China, con un cielo parcialmente nublado encima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ítulo de la diapositiv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íde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ubtítulo de la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ítulo de la diapositiv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íde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ítulo de la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ítulo de la diapositiv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 de sección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Título de sección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ítulo de la diapositiva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100" name="Subtítulo de la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ítulo de agenda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agenda</a:t>
            </a:r>
          </a:p>
        </p:txBody>
      </p:sp>
      <p:sp>
        <p:nvSpPr>
          <p:cNvPr id="109" name="Subtítulo de agend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agenda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Temas relacionados con la agenda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cl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Declaración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to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Información fáctica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Información fáctica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ribució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Atribución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“Cita destacable”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Vista exterior desde un ángulo bajo de la fachada de un edificio moderno cubierta con discos de aluminio bajo un cielo azul y despejado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Vista desde un ángulo bajo de un edificio moderno con curvas bajo un cielo nublado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sta desde el interior de un edificio moderno blanco con paneles de cristal, mirando hacia un cielo brillante y parcialmente nublado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Vista desde un ángulo bajo de la Torre Azadi en Teherán, Irán, sobre un cielo despejado y brillante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e la diapositiva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Título de la diapositiva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Brenda OYOL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Brenda OYOLA</a:t>
            </a:r>
          </a:p>
        </p:txBody>
      </p:sp>
      <p:sp>
        <p:nvSpPr>
          <p:cNvPr id="172" name="Supervivencia en el Titanic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Supervivencia en el Titanic</a:t>
            </a:r>
          </a:p>
        </p:txBody>
      </p:sp>
      <p:sp>
        <p:nvSpPr>
          <p:cNvPr id="173" name="Factores relevante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Factores relevantes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asa de mortalida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Tasa de mortalidad</a:t>
            </a:r>
          </a:p>
        </p:txBody>
      </p:sp>
      <p:sp>
        <p:nvSpPr>
          <p:cNvPr id="176" name="En el Titanic, aproximadamente un 62% de los pasajeros fallecieron, lo que corresponde con un total de 543 personas, de los 891 pasajeros de los que se tiene registro."/>
          <p:cNvSpPr txBox="1"/>
          <p:nvPr>
            <p:ph type="body" idx="21"/>
          </p:nvPr>
        </p:nvSpPr>
        <p:spPr>
          <a:xfrm>
            <a:off x="1206500" y="2372962"/>
            <a:ext cx="21971000" cy="23546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42950">
              <a:defRPr b="0" sz="4950"/>
            </a:lvl1pPr>
          </a:lstStyle>
          <a:p>
            <a:pPr/>
            <a:r>
              <a:t>En el Titanic, aproximadamente un 62% de los pasajeros fallecieron, lo que corresponde con un total de 543 personas, de los 891 pasajeros de los que se tiene registro.</a:t>
            </a:r>
          </a:p>
        </p:txBody>
      </p:sp>
      <p:pic>
        <p:nvPicPr>
          <p:cNvPr id="177" name="IMG_0950.png" descr="IMG_095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80039" y="5099973"/>
            <a:ext cx="6623922" cy="69460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upervivencia por sexo"/>
          <p:cNvSpPr txBox="1"/>
          <p:nvPr>
            <p:ph type="title"/>
          </p:nvPr>
        </p:nvSpPr>
        <p:spPr>
          <a:xfrm>
            <a:off x="1206500" y="1270000"/>
            <a:ext cx="15363846" cy="1352193"/>
          </a:xfrm>
          <a:prstGeom prst="rect">
            <a:avLst/>
          </a:prstGeom>
        </p:spPr>
        <p:txBody>
          <a:bodyPr/>
          <a:lstStyle>
            <a:lvl1pPr defTabSz="2365188">
              <a:defRPr spc="-164" sz="8245"/>
            </a:lvl1pPr>
          </a:lstStyle>
          <a:p>
            <a:pPr/>
            <a:r>
              <a:t>Supervivencia por sexo</a:t>
            </a:r>
          </a:p>
        </p:txBody>
      </p:sp>
      <p:sp>
        <p:nvSpPr>
          <p:cNvPr id="180" name="Entre los sobrevivientes, hubo más del doble de mujeres, que hombres y niños.…"/>
          <p:cNvSpPr txBox="1"/>
          <p:nvPr>
            <p:ph type="body" sz="half" idx="1"/>
          </p:nvPr>
        </p:nvSpPr>
        <p:spPr>
          <a:xfrm>
            <a:off x="1206180" y="3706965"/>
            <a:ext cx="9779001" cy="7410925"/>
          </a:xfrm>
          <a:prstGeom prst="rect">
            <a:avLst/>
          </a:prstGeom>
        </p:spPr>
        <p:txBody>
          <a:bodyPr/>
          <a:lstStyle/>
          <a:p>
            <a:pPr defTabSz="726440">
              <a:defRPr b="0" sz="4840"/>
            </a:pPr>
            <a:r>
              <a:t>Entre los sobrevivientes, hubo más del doble de mujeres, que hombres y niños.</a:t>
            </a:r>
          </a:p>
          <a:p>
            <a:pPr defTabSz="726440">
              <a:defRPr b="0" sz="4840"/>
            </a:pPr>
          </a:p>
          <a:p>
            <a:pPr defTabSz="726440">
              <a:defRPr b="0" sz="4840"/>
            </a:pPr>
            <a:r>
              <a:t>- De las 314 mujeres que iban, sobrevivieron </a:t>
            </a:r>
            <a:r>
              <a:rPr b="1"/>
              <a:t>233</a:t>
            </a:r>
            <a:r>
              <a:t>. </a:t>
            </a:r>
          </a:p>
          <a:p>
            <a:pPr defTabSz="726440">
              <a:defRPr b="0" sz="4840"/>
            </a:pPr>
            <a:r>
              <a:t>- De los 109 niños, sobrevivieron </a:t>
            </a:r>
            <a:r>
              <a:rPr b="1"/>
              <a:t>61</a:t>
            </a:r>
            <a:r>
              <a:t>.</a:t>
            </a:r>
          </a:p>
          <a:p>
            <a:pPr defTabSz="726440">
              <a:defRPr b="0" sz="4840"/>
            </a:pPr>
            <a:r>
              <a:t>- Se cumple la prevalencia de  “</a:t>
            </a:r>
            <a:r>
              <a:rPr i="1"/>
              <a:t>mujeres y niños primero</a:t>
            </a:r>
            <a:r>
              <a:t>”.</a:t>
            </a:r>
          </a:p>
        </p:txBody>
      </p:sp>
      <p:pic>
        <p:nvPicPr>
          <p:cNvPr id="181" name="IMG_0949.png" descr="IMG_094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30782" y="2513789"/>
            <a:ext cx="10411893" cy="86884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Hubo más sobrevivientes entre los pasajeros de primera clase.…"/>
          <p:cNvSpPr txBox="1"/>
          <p:nvPr>
            <p:ph type="body" sz="half" idx="1"/>
          </p:nvPr>
        </p:nvSpPr>
        <p:spPr>
          <a:xfrm>
            <a:off x="1203685" y="2490563"/>
            <a:ext cx="21678912" cy="3780641"/>
          </a:xfrm>
          <a:prstGeom prst="rect">
            <a:avLst/>
          </a:prstGeom>
        </p:spPr>
        <p:txBody>
          <a:bodyPr/>
          <a:lstStyle/>
          <a:p>
            <a:pPr marL="390143" indent="-390143" defTabSz="1560536">
              <a:spcBef>
                <a:spcPts val="2800"/>
              </a:spcBef>
              <a:defRPr sz="3072"/>
            </a:pPr>
            <a:r>
              <a:t>Hubo más sobrevivientes entre los pasajeros de primera clase.</a:t>
            </a:r>
          </a:p>
          <a:p>
            <a:pPr marL="390143" indent="-390143" defTabSz="1560536">
              <a:spcBef>
                <a:spcPts val="2800"/>
              </a:spcBef>
              <a:defRPr sz="3072"/>
            </a:pPr>
            <a:r>
              <a:t>Viajaban muchas más mujeres en primera clase que en segunda y tercera.</a:t>
            </a:r>
          </a:p>
          <a:p>
            <a:pPr marL="390143" indent="-390143" defTabSz="1560536">
              <a:spcBef>
                <a:spcPts val="2800"/>
              </a:spcBef>
              <a:defRPr sz="3072"/>
            </a:pPr>
            <a:r>
              <a:t>Murieron pocos niños de primera y segunda clase; En tercera clase, fallecieron más niños de los que sobrevivieron.</a:t>
            </a:r>
          </a:p>
          <a:p>
            <a:pPr marL="390143" indent="-390143" defTabSz="1560536">
              <a:spcBef>
                <a:spcPts val="2800"/>
              </a:spcBef>
              <a:defRPr sz="3072"/>
            </a:pPr>
            <a:r>
              <a:t>En tercera clase, la cantidad de mujeres fallecidas fue similar a las sobrevivientes.</a:t>
            </a:r>
          </a:p>
          <a:p>
            <a:pPr marL="390143" indent="-390143" defTabSz="1560536">
              <a:spcBef>
                <a:spcPts val="2800"/>
              </a:spcBef>
              <a:defRPr sz="3072"/>
            </a:pPr>
            <a:r>
              <a:t>La mayor parte de los hombres que sobrevivieron pertenecían a los que viajaban en primera clase.</a:t>
            </a:r>
          </a:p>
        </p:txBody>
      </p:sp>
      <p:sp>
        <p:nvSpPr>
          <p:cNvPr id="184" name="Supervivencia por clases"/>
          <p:cNvSpPr txBox="1"/>
          <p:nvPr>
            <p:ph type="title"/>
          </p:nvPr>
        </p:nvSpPr>
        <p:spPr>
          <a:xfrm>
            <a:off x="1206500" y="1079500"/>
            <a:ext cx="17500421" cy="1435100"/>
          </a:xfrm>
          <a:prstGeom prst="rect">
            <a:avLst/>
          </a:prstGeom>
        </p:spPr>
        <p:txBody>
          <a:bodyPr/>
          <a:lstStyle/>
          <a:p>
            <a:pPr/>
            <a:r>
              <a:t>Supervivencia por clases</a:t>
            </a:r>
          </a:p>
        </p:txBody>
      </p:sp>
      <p:pic>
        <p:nvPicPr>
          <p:cNvPr id="185" name="IMG_0948.png" descr="IMG_09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2592" y="6671061"/>
            <a:ext cx="21198816" cy="64768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En el gráfico podemos observar que la mayoría de sobrevivientes embarcaron en Southampton.…"/>
          <p:cNvSpPr txBox="1"/>
          <p:nvPr>
            <p:ph type="body" sz="half" idx="1"/>
          </p:nvPr>
        </p:nvSpPr>
        <p:spPr>
          <a:xfrm>
            <a:off x="1203685" y="2729685"/>
            <a:ext cx="9779001" cy="8256630"/>
          </a:xfrm>
          <a:prstGeom prst="rect">
            <a:avLst/>
          </a:prstGeom>
        </p:spPr>
        <p:txBody>
          <a:bodyPr/>
          <a:lstStyle/>
          <a:p>
            <a:pPr/>
            <a:r>
              <a:t>En el gráfico podemos observar que la mayoría de sobrevivientes embarcaron en Southampton.</a:t>
            </a:r>
          </a:p>
          <a:p>
            <a:pPr/>
            <a:r>
              <a:t>Sin embargo, el orden de supervivencia y mortalidad es consistente con el puerto de embarque: la mayoría de fallecidos embarcaron en Southampton también, seguido de Cherbourg y Queenstown.</a:t>
            </a:r>
          </a:p>
        </p:txBody>
      </p:sp>
      <p:sp>
        <p:nvSpPr>
          <p:cNvPr id="188" name="Influencia en supervivencia según el puerto de embarque"/>
          <p:cNvSpPr txBox="1"/>
          <p:nvPr>
            <p:ph type="title"/>
          </p:nvPr>
        </p:nvSpPr>
        <p:spPr>
          <a:xfrm>
            <a:off x="1206500" y="1079500"/>
            <a:ext cx="19204272" cy="1435100"/>
          </a:xfrm>
          <a:prstGeom prst="rect">
            <a:avLst/>
          </a:prstGeom>
        </p:spPr>
        <p:txBody>
          <a:bodyPr/>
          <a:lstStyle>
            <a:lvl1pPr defTabSz="1633687">
              <a:defRPr spc="-113" sz="5695"/>
            </a:lvl1pPr>
          </a:lstStyle>
          <a:p>
            <a:pPr/>
            <a:r>
              <a:t>Influencia en supervivencia según el puerto de embarque</a:t>
            </a:r>
          </a:p>
        </p:txBody>
      </p:sp>
      <p:pic>
        <p:nvPicPr>
          <p:cNvPr id="189" name="IMG_0946.png" descr="IMG_094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40611" y="2752701"/>
            <a:ext cx="10415924" cy="82105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Influencia en supervivencia según la clase respecto al puerto de embarque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414236">
              <a:defRPr spc="-98" sz="4930"/>
            </a:lvl1pPr>
          </a:lstStyle>
          <a:p>
            <a:pPr/>
            <a:r>
              <a:t>Influencia en supervivencia según la clase respecto al puerto de embarque:</a:t>
            </a:r>
          </a:p>
        </p:txBody>
      </p:sp>
      <p:sp>
        <p:nvSpPr>
          <p:cNvPr id="192" name="Vemos en el gráfico que la supervivencia dependió del tipo de billete que embarcó en cada puerto. Así, hubo más sobrevivientes que viajaban en primera clase y que embarcaron desde Southampton."/>
          <p:cNvSpPr txBox="1"/>
          <p:nvPr>
            <p:ph type="body" sz="quarter" idx="1"/>
          </p:nvPr>
        </p:nvSpPr>
        <p:spPr>
          <a:xfrm>
            <a:off x="1190579" y="2165991"/>
            <a:ext cx="21675909" cy="2628535"/>
          </a:xfrm>
          <a:prstGeom prst="rect">
            <a:avLst/>
          </a:prstGeom>
        </p:spPr>
        <p:txBody>
          <a:bodyPr/>
          <a:lstStyle/>
          <a:p>
            <a:pPr/>
            <a:r>
              <a:t>Vemos en el gráfico que la supervivencia dependió del tipo de billete que embarcó en cada puerto. Así, hubo más sobrevivientes que viajaban en primera clase y que embarcaron desde Southampton.</a:t>
            </a:r>
          </a:p>
        </p:txBody>
      </p:sp>
      <p:pic>
        <p:nvPicPr>
          <p:cNvPr id="193" name="Screenshot 2026-01-13 at 16.24.35.png" descr="Screenshot 2026-01-13 at 16.24.3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6036" y="5933409"/>
            <a:ext cx="20864996" cy="61808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upervivencia según puerto de embarque y clase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Supervivencia según puerto de embarque y clase:</a:t>
            </a:r>
          </a:p>
        </p:txBody>
      </p:sp>
      <p:sp>
        <p:nvSpPr>
          <p:cNvPr id="196" name="Fallecieron muchas más personas en segunda y tercera clase que las que sobrevivieron a diferencia de la primera clase, donde sobrevivieron más pasajeros que los que fallecieron. También, sobrevivieron más los pasajeros que embarcaron desde Cherbourg que "/>
          <p:cNvSpPr txBox="1"/>
          <p:nvPr>
            <p:ph type="body" sz="quarter" idx="1"/>
          </p:nvPr>
        </p:nvSpPr>
        <p:spPr>
          <a:xfrm>
            <a:off x="1206499" y="2704498"/>
            <a:ext cx="21971001" cy="1922795"/>
          </a:xfrm>
          <a:prstGeom prst="rect">
            <a:avLst/>
          </a:prstGeom>
        </p:spPr>
        <p:txBody>
          <a:bodyPr/>
          <a:lstStyle>
            <a:lvl1pPr defTabSz="553084">
              <a:spcBef>
                <a:spcPts val="1200"/>
              </a:spcBef>
              <a:defRPr spc="-36" sz="3685"/>
            </a:lvl1pPr>
          </a:lstStyle>
          <a:p>
            <a:pPr/>
            <a:r>
              <a:t>Fallecieron muchas más personas en segunda y tercera clase que las que sobrevivieron a diferencia de la primera clase, donde sobrevivieron más pasajeros que los que fallecieron. También, sobrevivieron más los pasajeros que embarcaron desde Cherbourg que los que embarcaron en Southampton y Queenstown.</a:t>
            </a:r>
          </a:p>
        </p:txBody>
      </p:sp>
      <p:pic>
        <p:nvPicPr>
          <p:cNvPr id="197" name="Screenshot 2026-01-13 at 16.15.01.png" descr="Screenshot 2026-01-13 at 16.15.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2536" y="5239706"/>
            <a:ext cx="7340601" cy="708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Screenshot 2026-01-13 at 16.14.46.png" descr="Screenshot 2026-01-13 at 16.14.4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468766" y="5252406"/>
            <a:ext cx="7289801" cy="7061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